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431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Gold Price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868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22 years of data · 2004–2026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84971"/>
            <a:ext cx="1916013" cy="215354"/>
          </a:xfrm>
          <a:prstGeom prst="roundRect">
            <a:avLst>
              <a:gd name="adj" fmla="val 7900"/>
            </a:avLst>
          </a:prstGeom>
          <a:solidFill>
            <a:srgbClr val="33221A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027462"/>
            <a:ext cx="220310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EXPLORATORY DATA ANALYSIS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5308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79513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5,531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3925119" y="2224460"/>
            <a:ext cx="2272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Daily Records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25119" y="2530971"/>
            <a:ext cx="22727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Open, High, Low, Close, Volume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75053" y="1579513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22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6375053" y="2224460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Years Covered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5053" y="2530971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2004 –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50048" y="3112145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</a:t>
            </a:r>
            <a:endParaRPr lang="en-US" sz="3650" dirty="0"/>
          </a:p>
        </p:txBody>
      </p:sp>
      <p:sp>
        <p:nvSpPr>
          <p:cNvPr id="11" name="Text 8"/>
          <p:cNvSpPr/>
          <p:nvPr/>
        </p:nvSpPr>
        <p:spPr>
          <a:xfrm>
            <a:off x="5150048" y="3757092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150048" y="4063603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Date, OHLC, Volume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659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Price Trends by Era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564856" y="1031081"/>
            <a:ext cx="14288" cy="3700686"/>
          </a:xfrm>
          <a:prstGeom prst="roundRect">
            <a:avLst>
              <a:gd name="adj" fmla="val 49998"/>
            </a:avLst>
          </a:prstGeom>
          <a:solidFill>
            <a:srgbClr val="504D4C"/>
          </a:solidFill>
          <a:ln/>
        </p:spPr>
      </p:sp>
      <p:sp>
        <p:nvSpPr>
          <p:cNvPr id="4" name="Shape 2"/>
          <p:cNvSpPr/>
          <p:nvPr/>
        </p:nvSpPr>
        <p:spPr>
          <a:xfrm>
            <a:off x="4065501" y="1165920"/>
            <a:ext cx="378768" cy="14288"/>
          </a:xfrm>
          <a:prstGeom prst="roundRect">
            <a:avLst>
              <a:gd name="adj" fmla="val 49998"/>
            </a:avLst>
          </a:prstGeom>
          <a:solidFill>
            <a:srgbClr val="504D4C"/>
          </a:solidFill>
          <a:ln/>
        </p:spPr>
      </p:sp>
      <p:sp>
        <p:nvSpPr>
          <p:cNvPr id="5" name="Shape 3"/>
          <p:cNvSpPr/>
          <p:nvPr/>
        </p:nvSpPr>
        <p:spPr>
          <a:xfrm>
            <a:off x="4429981" y="1031081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6" name="Text 4"/>
          <p:cNvSpPr/>
          <p:nvPr/>
        </p:nvSpPr>
        <p:spPr>
          <a:xfrm>
            <a:off x="4477271" y="105470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1074465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2004–2008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339155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Stable growth, $380–$900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9732" y="1895773"/>
            <a:ext cx="378768" cy="14288"/>
          </a:xfrm>
          <a:prstGeom prst="roundRect">
            <a:avLst>
              <a:gd name="adj" fmla="val 49998"/>
            </a:avLst>
          </a:prstGeom>
          <a:solidFill>
            <a:srgbClr val="504D4C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981" y="1760934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1" name="Text 9"/>
          <p:cNvSpPr/>
          <p:nvPr/>
        </p:nvSpPr>
        <p:spPr>
          <a:xfrm>
            <a:off x="4477271" y="1784561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3254" y="1804318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2009–2012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03254" y="2069009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Surge past $1,800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5501" y="2534915"/>
            <a:ext cx="378768" cy="14288"/>
          </a:xfrm>
          <a:prstGeom prst="roundRect">
            <a:avLst>
              <a:gd name="adj" fmla="val 49998"/>
            </a:avLst>
          </a:prstGeom>
          <a:solidFill>
            <a:srgbClr val="504D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981" y="2400077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6" name="Text 14"/>
          <p:cNvSpPr/>
          <p:nvPr/>
        </p:nvSpPr>
        <p:spPr>
          <a:xfrm>
            <a:off x="4477271" y="242370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443460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2013–2018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2708151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Correction, $1,200–$1,400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9732" y="3174057"/>
            <a:ext cx="378768" cy="14288"/>
          </a:xfrm>
          <a:prstGeom prst="roundRect">
            <a:avLst>
              <a:gd name="adj" fmla="val 49998"/>
            </a:avLst>
          </a:prstGeom>
          <a:solidFill>
            <a:srgbClr val="504D4C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9981" y="3039219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21" name="Text 19"/>
          <p:cNvSpPr/>
          <p:nvPr/>
        </p:nvSpPr>
        <p:spPr>
          <a:xfrm>
            <a:off x="4477271" y="3062846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03254" y="3082603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2019–2021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3254" y="3347293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Crossed $2,000 (pandemic)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5501" y="3813200"/>
            <a:ext cx="378768" cy="14288"/>
          </a:xfrm>
          <a:prstGeom prst="roundRect">
            <a:avLst>
              <a:gd name="adj" fmla="val 49998"/>
            </a:avLst>
          </a:prstGeom>
          <a:solidFill>
            <a:srgbClr val="504D4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9981" y="3678362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26" name="Text 24"/>
          <p:cNvSpPr/>
          <p:nvPr/>
        </p:nvSpPr>
        <p:spPr>
          <a:xfrm>
            <a:off x="4477271" y="370198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6119" y="3721745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2022–2026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119" y="3986436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Mixed volatility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15541"/>
            <a:ext cx="5177582" cy="29123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24339" y="639887"/>
            <a:ext cx="841102" cy="215354"/>
          </a:xfrm>
          <a:prstGeom prst="roundRect">
            <a:avLst>
              <a:gd name="adj" fmla="val 7900"/>
            </a:avLst>
          </a:prstGeom>
          <a:solidFill>
            <a:srgbClr val="33221A"/>
          </a:solidFill>
          <a:ln/>
        </p:spPr>
      </p:sp>
      <p:sp>
        <p:nvSpPr>
          <p:cNvPr id="4" name="Text 1"/>
          <p:cNvSpPr/>
          <p:nvPr/>
        </p:nvSpPr>
        <p:spPr>
          <a:xfrm>
            <a:off x="6109395" y="682377"/>
            <a:ext cx="112819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VOLATILITY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24339" y="911944"/>
            <a:ext cx="2628230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Crisis-Driven Swings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339" y="1957388"/>
            <a:ext cx="2628230" cy="911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1348" y="2118196"/>
            <a:ext cx="22304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Turbulent Years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261348" y="2481411"/>
            <a:ext cx="2230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daily swing: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$20–$30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339" y="3010793"/>
            <a:ext cx="2628230" cy="911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1348" y="3171602"/>
            <a:ext cx="22304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Stable Periods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1348" y="3534817"/>
            <a:ext cx="2230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daily swing: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$5–$10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024339" y="4081909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volatility during 2008 recession &amp; 2020 pandemic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Volume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Volume Tells Us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1865114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85804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Volume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spikes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correlate with price surges → speculative activity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602260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595190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Lower volumes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during stable phases → reduced investor interest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701" y="149483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4278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EDA with Python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98377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2040136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346647"/>
            <a:ext cx="200694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Imported via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98377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2040136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346647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Null checks, snake_case rename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225552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53206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Loaded DataFrame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73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Analysis Highlights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83903"/>
            <a:ext cx="4004965" cy="1280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6826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2169988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Dates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476500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Gap detection across 22 years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583903"/>
            <a:ext cx="4005039" cy="1280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6826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2169988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Price Volatility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476500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Annual high/low ranges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2802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59196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Y-O-Y Growth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9847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Peak: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+30.75%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2007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2802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Price &amp; Volume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98478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Monthly totals by year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191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84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visualizations for key insights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117" y="2255937"/>
            <a:ext cx="1701180" cy="17011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04" y="2255937"/>
            <a:ext cx="1701180" cy="1701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8741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Implications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743001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79166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Investment Strategy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209817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Gold = safe-haven during downturns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8511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65717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Risk Management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96368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Volatility patterns → hedging need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474021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52268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Market Outlook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82919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Geopolitical risk sustains demand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25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Recommendations &amp;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98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Investors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4306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Diversify with gold in high-risk periods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1163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Businesses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974851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 trends for material costs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34342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Analysts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70663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Apply ARIMA / Prophet forecasting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7605" y="1738089"/>
            <a:ext cx="4107135" cy="2322909"/>
          </a:xfrm>
          <a:prstGeom prst="roundRect">
            <a:avLst>
              <a:gd name="adj" fmla="val 915"/>
            </a:avLst>
          </a:prstGeom>
          <a:solidFill>
            <a:srgbClr val="C7A2AC"/>
          </a:solidFill>
          <a:ln/>
        </p:spPr>
      </p:sp>
      <p:sp>
        <p:nvSpPr>
          <p:cNvPr id="10" name="Text 8"/>
          <p:cNvSpPr/>
          <p:nvPr/>
        </p:nvSpPr>
        <p:spPr>
          <a:xfrm>
            <a:off x="4789363" y="187984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243063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Gold prices are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cyclical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driven by macroeconomic events — valuable for investment, planning &amp; risk management.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2026-07-28T11:25:31Z</dcterms:created>
  <dcterms:modified xsi:type="dcterms:W3CDTF">2026-07-28T11:25:31Z</dcterms:modified>
</cp:coreProperties>
</file>